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Revenue by Product Category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 %</c:v>
                </c:pt>
              </c:strCache>
            </c:strRef>
          </c:tx>
          <c:spPr>
            <a:solidFill>
              <a:srgbClr val="E8485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0D4-41CD-8A17-7455E62CB178}"/>
              </c:ext>
            </c:extLst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0D4-41CD-8A17-7455E62CB178}"/>
              </c:ext>
            </c:extLst>
          </c:dPt>
          <c:dPt>
            <c:idx val="2"/>
            <c:invertIfNegative val="0"/>
            <c:bubble3D val="0"/>
            <c:spPr>
              <a:solidFill>
                <a:srgbClr val="FFD1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0D4-41CD-8A17-7455E62CB178}"/>
              </c:ext>
            </c:extLst>
          </c:dPt>
          <c:dPt>
            <c:idx val="3"/>
            <c:invertIfNegative val="0"/>
            <c:bubble3D val="0"/>
            <c:spPr>
              <a:solidFill>
                <a:srgbClr val="06D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0D4-41CD-8A17-7455E62CB178}"/>
              </c:ext>
            </c:extLst>
          </c:dPt>
          <c:dPt>
            <c:idx val="4"/>
            <c:invertIfNegative val="0"/>
            <c:bubble3D val="0"/>
            <c:spPr>
              <a:solidFill>
                <a:srgbClr val="A855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0D4-41CD-8A17-7455E62CB178}"/>
              </c:ext>
            </c:extLst>
          </c:dPt>
          <c:dPt>
            <c:idx val="5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0D4-41CD-8A17-7455E62CB178}"/>
              </c:ext>
            </c:extLst>
          </c:dPt>
          <c:dPt>
            <c:idx val="6"/>
            <c:invertIfNegative val="0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0D4-41CD-8A17-7455E62CB17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Electronics</c:v>
                </c:pt>
                <c:pt idx="1">
                  <c:v>Clothing</c:v>
                </c:pt>
                <c:pt idx="2">
                  <c:v>Home</c:v>
                </c:pt>
                <c:pt idx="3">
                  <c:v>Beauty</c:v>
                </c:pt>
                <c:pt idx="4">
                  <c:v>Sports</c:v>
                </c:pt>
                <c:pt idx="5">
                  <c:v>Books</c:v>
                </c:pt>
                <c:pt idx="6">
                  <c:v>Food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22.4</c:v>
                </c:pt>
                <c:pt idx="1">
                  <c:v>18.600000000000001</c:v>
                </c:pt>
                <c:pt idx="2">
                  <c:v>16.2</c:v>
                </c:pt>
                <c:pt idx="3">
                  <c:v>14.8</c:v>
                </c:pt>
                <c:pt idx="4">
                  <c:v>11.5</c:v>
                </c:pt>
                <c:pt idx="5">
                  <c:v>9.8000000000000007</c:v>
                </c:pt>
                <c:pt idx="6">
                  <c:v>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B0D4-41CD-8A17-7455E62CB1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6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Customer Age Distribution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Count</c:v>
                </c:pt>
              </c:strCache>
            </c:strRef>
          </c:tx>
          <c:spPr>
            <a:ln w="38100" cap="flat">
              <a:solidFill>
                <a:srgbClr val="00B4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55-65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5820</c:v>
                </c:pt>
                <c:pt idx="1">
                  <c:v>18640</c:v>
                </c:pt>
                <c:pt idx="2">
                  <c:v>22310</c:v>
                </c:pt>
                <c:pt idx="3">
                  <c:v>19870</c:v>
                </c:pt>
                <c:pt idx="4">
                  <c:v>11900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AFA-4FAA-9C59-40685C4917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6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</c:v>
                </c:pt>
              </c:strCache>
            </c:strRef>
          </c:tx>
          <c:spPr>
            <a:solidFill>
              <a:srgbClr val="FFD16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C10-4FFD-B2F8-58CF043E4D0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C10-4FFD-B2F8-58CF043E4D04}"/>
              </c:ext>
            </c:extLst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C10-4FFD-B2F8-58CF043E4D04}"/>
              </c:ext>
            </c:extLst>
          </c:dPt>
          <c:dPt>
            <c:idx val="3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C10-4FFD-B2F8-58CF043E4D04}"/>
              </c:ext>
            </c:extLst>
          </c:dPt>
          <c:dPt>
            <c:idx val="4"/>
            <c:invertIfNegative val="0"/>
            <c:bubble3D val="0"/>
            <c:spPr>
              <a:solidFill>
                <a:srgbClr val="06D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C10-4FFD-B2F8-58CF043E4D04}"/>
              </c:ext>
            </c:extLst>
          </c:dPt>
          <c:dPt>
            <c:idx val="5"/>
            <c:invertIfNegative val="0"/>
            <c:bubble3D val="0"/>
            <c:spPr>
              <a:solidFill>
                <a:srgbClr val="E848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C10-4FFD-B2F8-58CF043E4D04}"/>
              </c:ext>
            </c:extLst>
          </c:dPt>
          <c:dPt>
            <c:idx val="6"/>
            <c:invertIfNegative val="0"/>
            <c:bubble3D val="0"/>
            <c:spPr>
              <a:solidFill>
                <a:srgbClr val="E848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C10-4FFD-B2F8-58CF043E4D0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Price per Unit</c:v>
                </c:pt>
                <c:pt idx="1">
                  <c:v>Quantity</c:v>
                </c:pt>
                <c:pt idx="2">
                  <c:v>Electronics</c:v>
                </c:pt>
                <c:pt idx="3">
                  <c:v>Clothing</c:v>
                </c:pt>
                <c:pt idx="4">
                  <c:v>Home</c:v>
                </c:pt>
                <c:pt idx="5">
                  <c:v>Beauty</c:v>
                </c:pt>
                <c:pt idx="6">
                  <c:v>Sports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485.2</c:v>
                </c:pt>
                <c:pt idx="1">
                  <c:v>312.7</c:v>
                </c:pt>
                <c:pt idx="2">
                  <c:v>88.4</c:v>
                </c:pt>
                <c:pt idx="3">
                  <c:v>42.1</c:v>
                </c:pt>
                <c:pt idx="4">
                  <c:v>18.600000000000001</c:v>
                </c:pt>
                <c:pt idx="5">
                  <c:v>-12.3</c:v>
                </c:pt>
                <c:pt idx="6">
                  <c:v>-28.9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AC10-4FFD-B2F8-58CF043E4D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6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7913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61120" y="-1097280"/>
            <a:ext cx="4114800" cy="411480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601200" y="-640080"/>
            <a:ext cx="3200400" cy="3200400"/>
          </a:xfrm>
          <a:prstGeom prst="ellipse">
            <a:avLst/>
          </a:prstGeom>
          <a:solidFill>
            <a:srgbClr val="0D234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1371600" y="5029200"/>
            <a:ext cx="3200400" cy="320040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0292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COURSE — PHASE 2 FINAL PROJECT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11430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</a:t>
            </a:r>
            <a:endParaRPr lang="en-US" sz="6400" dirty="0"/>
          </a:p>
        </p:txBody>
      </p:sp>
      <p:sp>
        <p:nvSpPr>
          <p:cNvPr id="9" name="Text 6"/>
          <p:cNvSpPr/>
          <p:nvPr/>
        </p:nvSpPr>
        <p:spPr>
          <a:xfrm>
            <a:off x="731520" y="21031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&amp; Analytics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31520" y="30632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CRISP-DM pipeline · Customer Segmentation · Predictive Modelling · Interactive Dashboard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31520" y="3611880"/>
            <a:ext cx="5486400" cy="36576"/>
          </a:xfrm>
          <a:prstGeom prst="rect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31520" y="3886200"/>
            <a:ext cx="5120640" cy="1371600"/>
          </a:xfrm>
          <a:prstGeom prst="rect">
            <a:avLst/>
          </a:prstGeom>
          <a:solidFill>
            <a:srgbClr val="111827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22960" y="3977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Mahmoud Usama</a:t>
            </a:r>
            <a:r>
              <a:rPr lang="en-US" sz="15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230103270</a:t>
            </a: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Mahmoud</a:t>
            </a:r>
            <a:r>
              <a:rPr lang="en-US" sz="15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230104603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675120" y="3886200"/>
            <a:ext cx="2194560" cy="640080"/>
          </a:xfrm>
          <a:prstGeom prst="rect">
            <a:avLst/>
          </a:prstGeom>
          <a:solidFill>
            <a:srgbClr val="0D1B3E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675120" y="392277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675120" y="423367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144000" y="3886200"/>
            <a:ext cx="2194560" cy="640080"/>
          </a:xfrm>
          <a:prstGeom prst="rect">
            <a:avLst/>
          </a:prstGeom>
          <a:solidFill>
            <a:srgbClr val="0D1B3E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144000" y="392277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42.5K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9144000" y="423367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675120" y="4663440"/>
            <a:ext cx="2194560" cy="640080"/>
          </a:xfrm>
          <a:prstGeom prst="rect">
            <a:avLst/>
          </a:prstGeom>
          <a:solidFill>
            <a:srgbClr val="0D1B3E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675120" y="470001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675120" y="501091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9144000" y="4663440"/>
            <a:ext cx="2194560" cy="640080"/>
          </a:xfrm>
          <a:prstGeom prst="rect">
            <a:avLst/>
          </a:prstGeom>
          <a:solidFill>
            <a:srgbClr val="0D1B3E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9144000" y="470001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9144000" y="501091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95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486400"/>
            <a:ext cx="274320" cy="27432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143000" y="54681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github.com/MUA122/Retail-Sales-Data-Mining-Project</a:t>
            </a:r>
            <a:endParaRPr lang="en-US" sz="10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852160"/>
            <a:ext cx="274320" cy="27432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143000" y="58338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retail-pro.streamlit.app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 Today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12080" cy="914400"/>
          </a:xfrm>
          <a:prstGeom prst="rect">
            <a:avLst/>
          </a:prstGeom>
          <a:solidFill>
            <a:srgbClr val="1A2744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64008" cy="914400"/>
          </a:xfrm>
          <a:prstGeom prst="rect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1600200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85623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93392" y="165506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993392" y="20574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definition, objectives, success criteria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31520" y="2679192"/>
            <a:ext cx="5212080" cy="914400"/>
          </a:xfrm>
          <a:prstGeom prst="rect">
            <a:avLst/>
          </a:prstGeom>
          <a:solidFill>
            <a:srgbClr val="1A2744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31520" y="2679192"/>
            <a:ext cx="64008" cy="9144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96112" y="2679192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2935224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93392" y="273405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EDA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1993392" y="31363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retail transactions, quality analysis &amp; insights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731520" y="3758184"/>
            <a:ext cx="5212080" cy="914400"/>
          </a:xfrm>
          <a:prstGeom prst="rect">
            <a:avLst/>
          </a:prstGeom>
          <a:solidFill>
            <a:srgbClr val="1A2744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31520" y="3758184"/>
            <a:ext cx="64008" cy="91440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896112" y="3758184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8760" y="4014216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993392" y="38130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1993392" y="421538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pipeline, feature engineering, validation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731520" y="4837176"/>
            <a:ext cx="5212080" cy="914400"/>
          </a:xfrm>
          <a:prstGeom prst="rect">
            <a:avLst/>
          </a:prstGeom>
          <a:solidFill>
            <a:srgbClr val="1A2744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731520" y="4837176"/>
            <a:ext cx="64008" cy="9144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896112" y="4837176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8760" y="5093208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993392" y="48920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Segmentation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1993392" y="529437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clustering, silhouette analysis, profiles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6309360" y="1600200"/>
            <a:ext cx="5212080" cy="914400"/>
          </a:xfrm>
          <a:prstGeom prst="rect">
            <a:avLst/>
          </a:prstGeom>
          <a:solidFill>
            <a:srgbClr val="1A2744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6309360" y="1600200"/>
            <a:ext cx="64008" cy="91440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6473952" y="1600200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0" y="1856232"/>
            <a:ext cx="384048" cy="38404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571232" y="165506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Models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7571232" y="20574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High-spender &amp; category classification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6309360" y="2679192"/>
            <a:ext cx="5212080" cy="914400"/>
          </a:xfrm>
          <a:prstGeom prst="rect">
            <a:avLst/>
          </a:prstGeom>
          <a:solidFill>
            <a:srgbClr val="1A2744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6309360" y="2679192"/>
            <a:ext cx="64008" cy="91440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6473952" y="2679192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2935224"/>
            <a:ext cx="384048" cy="38404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571232" y="273405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350" dirty="0"/>
          </a:p>
        </p:txBody>
      </p:sp>
      <p:sp>
        <p:nvSpPr>
          <p:cNvPr id="40" name="Text 32"/>
          <p:cNvSpPr/>
          <p:nvPr/>
        </p:nvSpPr>
        <p:spPr>
          <a:xfrm>
            <a:off x="7571232" y="31363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prediction, R² = 0.818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6309360" y="3758184"/>
            <a:ext cx="5212080" cy="914400"/>
          </a:xfrm>
          <a:prstGeom prst="rect">
            <a:avLst/>
          </a:prstGeom>
          <a:solidFill>
            <a:srgbClr val="1A2744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4"/>
          <p:cNvSpPr/>
          <p:nvPr/>
        </p:nvSpPr>
        <p:spPr>
          <a:xfrm>
            <a:off x="6309360" y="3758184"/>
            <a:ext cx="64008" cy="914400"/>
          </a:xfrm>
          <a:prstGeom prst="rect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5"/>
          <p:cNvSpPr/>
          <p:nvPr/>
        </p:nvSpPr>
        <p:spPr>
          <a:xfrm>
            <a:off x="6473952" y="3758184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600" y="4014216"/>
            <a:ext cx="384048" cy="38404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7571232" y="38130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Dashboard</a:t>
            </a:r>
            <a:endParaRPr lang="en-US" sz="1350" dirty="0"/>
          </a:p>
        </p:txBody>
      </p:sp>
      <p:sp>
        <p:nvSpPr>
          <p:cNvPr id="46" name="Text 37"/>
          <p:cNvSpPr/>
          <p:nvPr/>
        </p:nvSpPr>
        <p:spPr>
          <a:xfrm>
            <a:off x="7571232" y="421538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app, CRISP-DM evaluation, recommendations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BUSINESS UNDERSTANDING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&amp; Objectives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6766560" cy="1097280"/>
          </a:xfrm>
          <a:prstGeom prst="rect">
            <a:avLst/>
          </a:prstGeom>
          <a:solidFill>
            <a:srgbClr val="111827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087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417320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08760" y="173736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businesses struggle to understand which customers drive revenue, what drives high-value purchases, and how to personalize marketing strategies for diverse segments.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2651760"/>
            <a:ext cx="5212080" cy="1078992"/>
          </a:xfrm>
          <a:prstGeom prst="rect">
            <a:avLst/>
          </a:prstGeom>
          <a:solidFill>
            <a:srgbClr val="1A2744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31520" y="2651760"/>
            <a:ext cx="64008" cy="107899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2971800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81328" y="272491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481328" y="309067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distinct customer groups using K-Means clustering to enable targeted campaigns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309360" y="2651760"/>
            <a:ext cx="5212080" cy="1078992"/>
          </a:xfrm>
          <a:prstGeom prst="rect">
            <a:avLst/>
          </a:prstGeom>
          <a:solidFill>
            <a:srgbClr val="1A2744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309360" y="2651760"/>
            <a:ext cx="64008" cy="107899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2971800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59168" y="272491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Classification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059168" y="309067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high-spender status and product category using Random Forest with 87%+ accuracy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731520" y="3886200"/>
            <a:ext cx="5212080" cy="1078992"/>
          </a:xfrm>
          <a:prstGeom prst="rect">
            <a:avLst/>
          </a:prstGeom>
          <a:solidFill>
            <a:srgbClr val="1A2744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31520" y="3886200"/>
            <a:ext cx="64008" cy="107899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4206240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81328" y="395935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Prediction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481328" y="432511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Total Amount with Linear Regression achieving R² = 0.818 for business forecasting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6309360" y="3886200"/>
            <a:ext cx="5212080" cy="1078992"/>
          </a:xfrm>
          <a:prstGeom prst="rect">
            <a:avLst/>
          </a:prstGeom>
          <a:solidFill>
            <a:srgbClr val="1A2744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6309360" y="3886200"/>
            <a:ext cx="64008" cy="1078992"/>
          </a:xfrm>
          <a:prstGeom prst="rect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528" y="4206240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059168" y="395935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7059168" y="432511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real-time Streamlit dashboard for decision-makers with interactive filtering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731520" y="6400800"/>
            <a:ext cx="11064240" cy="347472"/>
          </a:xfrm>
          <a:prstGeom prst="rect">
            <a:avLst/>
          </a:prstGeom>
          <a:solidFill>
            <a:srgbClr val="0D1B3E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/>
          <p:nvPr/>
        </p:nvSpPr>
        <p:spPr>
          <a:xfrm>
            <a:off x="822960" y="6391656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Criteria:  RF Accuracy ≥ 80%  ·  LR R² ≥ 0.75  ·  K-Means Silhouette ≥ 0.25  ·  Interactive dashboard deployed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DATASET &amp; EXPLORATORY DATA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Dataset — 100,000 Transactions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2011680" cy="987552"/>
          </a:xfrm>
          <a:prstGeom prst="rect">
            <a:avLst/>
          </a:prstGeom>
          <a:solidFill>
            <a:srgbClr val="1A2744"/>
          </a:solidFill>
          <a:ln w="15240">
            <a:solidFill>
              <a:srgbClr val="00B4D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4630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7647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1520" y="20848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971800" y="1417320"/>
            <a:ext cx="2011680" cy="987552"/>
          </a:xfrm>
          <a:prstGeom prst="rect">
            <a:avLst/>
          </a:prstGeom>
          <a:solidFill>
            <a:srgbClr val="1A2744"/>
          </a:solidFill>
          <a:ln w="15240">
            <a:solidFill>
              <a:srgbClr val="06D6A0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146304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71800" y="17647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42,540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2971800" y="20848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212080" y="1417320"/>
            <a:ext cx="2011680" cy="987552"/>
          </a:xfrm>
          <a:prstGeom prst="rect">
            <a:avLst/>
          </a:prstGeom>
          <a:solidFill>
            <a:srgbClr val="1A2744"/>
          </a:solidFill>
          <a:ln w="15240">
            <a:solidFill>
              <a:srgbClr val="FFD166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1463040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12080" y="17647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5212080" y="20848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7452360" y="1417320"/>
            <a:ext cx="2011680" cy="987552"/>
          </a:xfrm>
          <a:prstGeom prst="rect">
            <a:avLst/>
          </a:prstGeom>
          <a:solidFill>
            <a:srgbClr val="1A2744"/>
          </a:solidFill>
          <a:ln w="15240">
            <a:solidFill>
              <a:srgbClr val="E84855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146304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52360" y="17647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7452360" y="20848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Features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9692640" y="1417320"/>
            <a:ext cx="2011680" cy="987552"/>
          </a:xfrm>
          <a:prstGeom prst="rect">
            <a:avLst/>
          </a:prstGeom>
          <a:solidFill>
            <a:srgbClr val="1A2744"/>
          </a:solidFill>
          <a:ln w="15240">
            <a:solidFill>
              <a:srgbClr val="06D6A0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9880" y="1463040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92640" y="17647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200" dirty="0"/>
          </a:p>
        </p:txBody>
      </p:sp>
      <p:sp>
        <p:nvSpPr>
          <p:cNvPr id="24" name="Text 17"/>
          <p:cNvSpPr/>
          <p:nvPr/>
        </p:nvSpPr>
        <p:spPr>
          <a:xfrm>
            <a:off x="9692640" y="20848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731520" y="2578608"/>
            <a:ext cx="5029200" cy="2926080"/>
          </a:xfrm>
          <a:prstGeom prst="rect">
            <a:avLst/>
          </a:prstGeom>
          <a:solidFill>
            <a:srgbClr val="111827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868680" y="2651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Schema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999232"/>
          <a:ext cx="4846320" cy="238353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</a:rPr>
                        <a:t>Notes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Transaction ID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FA3BF"/>
                          </a:solidFill>
                        </a:rPr>
                        <a:t>String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FA3BF"/>
                          </a:solidFill>
                        </a:rPr>
                        <a:t>Unique identifier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FA3BF"/>
                          </a:solidFill>
                        </a:rPr>
                        <a:t>DateTime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FA3BF"/>
                          </a:solidFill>
                        </a:rPr>
                        <a:t>2022 – 2024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Customer ID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FA3BF"/>
                          </a:solidFill>
                        </a:rPr>
                        <a:t>String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FA3BF"/>
                          </a:solidFill>
                        </a:rPr>
                        <a:t>42.5K unique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Gender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FA3BF"/>
                          </a:solidFill>
                        </a:rPr>
                        <a:t>Categorical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FA3BF"/>
                          </a:solidFill>
                        </a:rPr>
                        <a:t>Male / Female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Age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FA3BF"/>
                          </a:solidFill>
                        </a:rPr>
                        <a:t>Numeric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FA3BF"/>
                          </a:solidFill>
                        </a:rPr>
                        <a:t>Range 18–65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Product Category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FA3BF"/>
                          </a:solidFill>
                        </a:rPr>
                        <a:t>Categorical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FA3BF"/>
                          </a:solidFill>
                        </a:rPr>
                        <a:t>7 categories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Quantity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FA3BF"/>
                          </a:solidFill>
                        </a:rPr>
                        <a:t>Numeric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FA3BF"/>
                          </a:solidFill>
                        </a:rPr>
                        <a:t>1–10 items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Price per Unit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FA3BF"/>
                          </a:solidFill>
                        </a:rPr>
                        <a:t>Numeric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FA3BF"/>
                          </a:solidFill>
                        </a:rPr>
                        <a:t>$10 – $2,000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Total Amount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FA3BF"/>
                          </a:solidFill>
                        </a:rPr>
                        <a:t>Numeric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FA3BF"/>
                          </a:solidFill>
                        </a:rPr>
                        <a:t>Target variable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28" name="Chart 0"/>
          <p:cNvGraphicFramePr/>
          <p:nvPr/>
        </p:nvGraphicFramePr>
        <p:xfrm>
          <a:off x="6035040" y="2578608"/>
          <a:ext cx="58521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9" name="Chart 1"/>
          <p:cNvGraphicFramePr/>
          <p:nvPr/>
        </p:nvGraphicFramePr>
        <p:xfrm>
          <a:off x="6035040" y="4773168"/>
          <a:ext cx="585216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 PREPARATION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Pipeline &amp; Feature Engineering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5303520" cy="1005840"/>
          </a:xfrm>
          <a:prstGeom prst="rect">
            <a:avLst/>
          </a:prstGeom>
          <a:solidFill>
            <a:srgbClr val="1A2744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64008" cy="10058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691640"/>
            <a:ext cx="475488" cy="47548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6112" y="16733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146304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08760" y="1874520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duplicate rows found — dataset integrity confirmed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587752"/>
            <a:ext cx="5303520" cy="1005840"/>
          </a:xfrm>
          <a:prstGeom prst="rect">
            <a:avLst/>
          </a:prstGeom>
          <a:solidFill>
            <a:srgbClr val="1A2744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1520" y="2587752"/>
            <a:ext cx="64008" cy="100584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96112" y="2862072"/>
            <a:ext cx="475488" cy="475488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6112" y="28437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2633472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08760" y="3044952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→ datetime  ·  Numeric cols coerced with pd.to_numeric()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3758184"/>
            <a:ext cx="5303520" cy="1005840"/>
          </a:xfrm>
          <a:prstGeom prst="rect">
            <a:avLst/>
          </a:prstGeom>
          <a:solidFill>
            <a:srgbClr val="1A2744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1520" y="3758184"/>
            <a:ext cx="64008" cy="100584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96112" y="4032504"/>
            <a:ext cx="475488" cy="47548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96112" y="40142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08760" y="380390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Imputation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4215384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Categorical: mode  ·  Numeric: median  ·  0 missing values remain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09360" y="1417320"/>
            <a:ext cx="5303520" cy="1005840"/>
          </a:xfrm>
          <a:prstGeom prst="rect">
            <a:avLst/>
          </a:prstGeom>
          <a:solidFill>
            <a:srgbClr val="1A2744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309360" y="1417320"/>
            <a:ext cx="64008" cy="1005840"/>
          </a:xfrm>
          <a:prstGeom prst="rect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73952" y="1691640"/>
            <a:ext cx="475488" cy="475488"/>
          </a:xfrm>
          <a:prstGeom prst="ellipse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73952" y="16733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86600" y="146304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Filters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86600" y="1874520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∈ [1,120], Qty &gt; 0, Price &gt; 0, Total ≥ 0 — invalid rows dropped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09360" y="2587752"/>
            <a:ext cx="5303520" cy="1005840"/>
          </a:xfrm>
          <a:prstGeom prst="rect">
            <a:avLst/>
          </a:prstGeom>
          <a:solidFill>
            <a:srgbClr val="1A2744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09360" y="2587752"/>
            <a:ext cx="64008" cy="10058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73952" y="2862072"/>
            <a:ext cx="475488" cy="47548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73952" y="28437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86600" y="2633472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 Fix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86600" y="3044952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 Total = Qty × Price where Total = 0 or inconsistent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09360" y="3758184"/>
            <a:ext cx="5303520" cy="1005840"/>
          </a:xfrm>
          <a:prstGeom prst="rect">
            <a:avLst/>
          </a:prstGeom>
          <a:solidFill>
            <a:srgbClr val="1A2744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309360" y="3758184"/>
            <a:ext cx="64008" cy="100584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473952" y="4032504"/>
            <a:ext cx="475488" cy="475488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73952" y="40142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86600" y="380390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086600" y="4215384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Month, Year, Age Group (7 bins), High Spender (top 35% threshold)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31520" y="4983480"/>
            <a:ext cx="11064240" cy="1600200"/>
          </a:xfrm>
          <a:prstGeom prst="rect">
            <a:avLst/>
          </a:prstGeom>
          <a:solidFill>
            <a:srgbClr val="111827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14400" y="50749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22960" y="54864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/ Year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22960" y="57607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features for seasonality analysis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611880" y="54864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611880" y="57607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bins: Under 18, 18-24, 25-34, 35-44, 45-54, 55-64, 65+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400800" y="54864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Spender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400800" y="57607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Total Amount ≥ 65th percentile ($806.29)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9189720" y="54864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Number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189720" y="57607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month for ordering in visualizations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K-MEANS CUSTOMER SEGMENTATION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42,540 Customers into 3 Segments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2560320" cy="896112"/>
          </a:xfrm>
          <a:prstGeom prst="rect">
            <a:avLst/>
          </a:prstGeom>
          <a:solidFill>
            <a:srgbClr val="1A2744"/>
          </a:solidFill>
          <a:ln w="15240">
            <a:solidFill>
              <a:srgbClr val="00B4D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4475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566160" y="1417320"/>
            <a:ext cx="2560320" cy="896112"/>
          </a:xfrm>
          <a:prstGeom prst="rect">
            <a:avLst/>
          </a:prstGeom>
          <a:solidFill>
            <a:srgbClr val="1A2744"/>
          </a:solidFill>
          <a:ln w="15240">
            <a:solidFill>
              <a:srgbClr val="8FA3BF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66160" y="144475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133,857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6616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0" y="1417320"/>
            <a:ext cx="2560320" cy="896112"/>
          </a:xfrm>
          <a:prstGeom prst="rect">
            <a:avLst/>
          </a:prstGeom>
          <a:solidFill>
            <a:srgbClr val="1A2744"/>
          </a:solidFill>
          <a:ln w="15240">
            <a:solidFill>
              <a:srgbClr val="06D6A0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144475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19,287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40080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Calinski-Harabasz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235440" y="1417320"/>
            <a:ext cx="2560320" cy="896112"/>
          </a:xfrm>
          <a:prstGeom prst="rect">
            <a:avLst/>
          </a:prstGeom>
          <a:solidFill>
            <a:srgbClr val="1A2744"/>
          </a:solidFill>
          <a:ln w="15240">
            <a:solidFill>
              <a:srgbClr val="FFD166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235440" y="144475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1.129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23544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2514600"/>
            <a:ext cx="3611880" cy="3977640"/>
          </a:xfrm>
          <a:prstGeom prst="rect">
            <a:avLst/>
          </a:prstGeom>
          <a:solidFill>
            <a:srgbClr val="1A2744"/>
          </a:solidFill>
          <a:ln w="15240">
            <a:solidFill>
              <a:srgbClr val="00B4D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1520" y="2514600"/>
            <a:ext cx="3611880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4400" y="269748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26791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91640" y="27157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Essentials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91640" y="317296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33.7% of customers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96112" y="3566160"/>
            <a:ext cx="3291840" cy="402336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0120" y="360273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468880" y="3602736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$812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96112" y="4041648"/>
            <a:ext cx="3291840" cy="402336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60120" y="407822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468880" y="4078224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/ Books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96112" y="4517136"/>
            <a:ext cx="3291840" cy="402336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60120" y="455371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Range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468880" y="4553712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18-65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96112" y="4992624"/>
            <a:ext cx="3291840" cy="402336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60120" y="502920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Mix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468880" y="502920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96112" y="5532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Lower-value, lower-quantity shoppers. Focus on essentials and value products.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0" y="2514600"/>
            <a:ext cx="3611880" cy="3977640"/>
          </a:xfrm>
          <a:prstGeom prst="rect">
            <a:avLst/>
          </a:prstGeom>
          <a:solidFill>
            <a:srgbClr val="1A2744"/>
          </a:solidFill>
          <a:ln w="15240">
            <a:solidFill>
              <a:srgbClr val="FFD166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572000" y="2514600"/>
            <a:ext cx="3611880" cy="6400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754880" y="2697480"/>
            <a:ext cx="640080" cy="640080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54880" y="26791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532120" y="27157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Buyers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532120" y="317296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33.2% of customers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36592" y="3566160"/>
            <a:ext cx="3291840" cy="402336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00600" y="360273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Spending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309360" y="3602736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$2,841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36592" y="4041648"/>
            <a:ext cx="3291840" cy="402336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00600" y="407822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309360" y="4078224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36592" y="4517136"/>
            <a:ext cx="3291840" cy="402336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00600" y="455371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Range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309360" y="4553712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18-65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36592" y="4992624"/>
            <a:ext cx="3291840" cy="402336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800600" y="502920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Mix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309360" y="502920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736592" y="5532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High-value, Electronics-focused. Best ROI for upselling &amp; premium campaigns.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412480" y="2514600"/>
            <a:ext cx="3611880" cy="3977640"/>
          </a:xfrm>
          <a:prstGeom prst="rect">
            <a:avLst/>
          </a:prstGeom>
          <a:solidFill>
            <a:srgbClr val="1A2744"/>
          </a:solidFill>
          <a:ln w="15240">
            <a:solidFill>
              <a:srgbClr val="A855F7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412480" y="2514600"/>
            <a:ext cx="3611880" cy="64008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595360" y="2697480"/>
            <a:ext cx="640080" cy="64008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595360" y="26791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9372600" y="27157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Shoppers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9372600" y="317296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33.1% of customers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577072" y="3566160"/>
            <a:ext cx="3291840" cy="402336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641080" y="360273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Spending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10149840" y="3602736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$1,390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8577072" y="4041648"/>
            <a:ext cx="3291840" cy="402336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8641080" y="407822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10149840" y="4078224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/ Home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577072" y="4517136"/>
            <a:ext cx="3291840" cy="402336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8641080" y="455371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Range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10149840" y="4553712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18-65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8577072" y="4992624"/>
            <a:ext cx="3291840" cy="402336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8641080" y="502920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Mix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10149840" y="502920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577072" y="5532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spenders with diverse interests. Strong loyalty potential.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RANDOM FOREST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High-Spender Classification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19" y="1371600"/>
            <a:ext cx="9438847" cy="5120640"/>
          </a:xfrm>
          <a:prstGeom prst="rect">
            <a:avLst/>
          </a:prstGeom>
          <a:solidFill>
            <a:srgbClr val="111827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349240" cy="54864"/>
          </a:xfrm>
          <a:prstGeom prst="rect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4630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High-Spender Classifier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2057400"/>
            <a:ext cx="1508760" cy="822960"/>
          </a:xfrm>
          <a:prstGeom prst="rect">
            <a:avLst/>
          </a:prstGeom>
          <a:solidFill>
            <a:srgbClr val="1A2744"/>
          </a:solidFill>
          <a:ln w="15240">
            <a:solidFill>
              <a:srgbClr val="00B4D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68680" y="210312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87.7%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68680" y="255117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560320" y="2057400"/>
            <a:ext cx="1508760" cy="822960"/>
          </a:xfrm>
          <a:prstGeom prst="rect">
            <a:avLst/>
          </a:prstGeom>
          <a:solidFill>
            <a:srgbClr val="1A2744"/>
          </a:solidFill>
          <a:ln w="15240">
            <a:solidFill>
              <a:srgbClr val="06D6A0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560320" y="210312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89.2%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560320" y="255117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Bal. Acc.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251960" y="2057400"/>
            <a:ext cx="1508760" cy="822960"/>
          </a:xfrm>
          <a:prstGeom prst="rect">
            <a:avLst/>
          </a:prstGeom>
          <a:solidFill>
            <a:srgbClr val="1A2744"/>
          </a:solidFill>
          <a:ln w="15240">
            <a:solidFill>
              <a:srgbClr val="FFD166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251960" y="210312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76.4%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251960" y="255117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68680" y="3044952"/>
            <a:ext cx="1508760" cy="822960"/>
          </a:xfrm>
          <a:prstGeom prst="rect">
            <a:avLst/>
          </a:prstGeom>
          <a:solidFill>
            <a:srgbClr val="1A2744"/>
          </a:solidFill>
          <a:ln w="15240">
            <a:solidFill>
              <a:srgbClr val="E84855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68680" y="3090672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94.0%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68680" y="353872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560320" y="3044952"/>
            <a:ext cx="1508760" cy="822960"/>
          </a:xfrm>
          <a:prstGeom prst="rect">
            <a:avLst/>
          </a:prstGeom>
          <a:solidFill>
            <a:srgbClr val="1A2744"/>
          </a:solidFill>
          <a:ln w="15240">
            <a:solidFill>
              <a:srgbClr val="00B4D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560320" y="3090672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84.3%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2560320" y="353872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251960" y="3044952"/>
            <a:ext cx="1508760" cy="822960"/>
          </a:xfrm>
          <a:prstGeom prst="rect">
            <a:avLst/>
          </a:prstGeom>
          <a:solidFill>
            <a:srgbClr val="1A2744"/>
          </a:solidFill>
          <a:ln w="15240">
            <a:solidFill>
              <a:srgbClr val="06D6A0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251960" y="3090672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94.9%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4251960" y="353872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68680" y="41148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68680" y="443484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Gender, Age, Product Category, Quantity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68680" y="470916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Estimators: 120  ·  Max Depth: 12  ·  Test Split: 35%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868680" y="49834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Weight: Balanced  ·  Best Threshold: 0.52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868680" y="525780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High-Spender Threshold: $806.29  (65th percentile)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LINEAR REGRESSION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Total Purchase Amount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520440" cy="987552"/>
          </a:xfrm>
          <a:prstGeom prst="rect">
            <a:avLst/>
          </a:prstGeom>
          <a:solidFill>
            <a:srgbClr val="1A2744"/>
          </a:solidFill>
          <a:ln w="15240">
            <a:solidFill>
              <a:srgbClr val="FFD166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194767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18541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81.8% of variance explained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26280" y="1417320"/>
            <a:ext cx="3520440" cy="987552"/>
          </a:xfrm>
          <a:prstGeom prst="rect">
            <a:avLst/>
          </a:prstGeom>
          <a:solidFill>
            <a:srgbClr val="1A2744"/>
          </a:solidFill>
          <a:ln w="15240">
            <a:solidFill>
              <a:srgbClr val="E84855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14630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661K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26280" y="194767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26280" y="218541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321040" y="1417320"/>
            <a:ext cx="3520440" cy="987552"/>
          </a:xfrm>
          <a:prstGeom prst="rect">
            <a:avLst/>
          </a:prstGeom>
          <a:solidFill>
            <a:srgbClr val="1A2744"/>
          </a:solidFill>
          <a:ln w="15240">
            <a:solidFill>
              <a:srgbClr val="00B4D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21040" y="14630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321040" y="194767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($)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0" y="218541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31520" y="2560320"/>
            <a:ext cx="3520440" cy="987552"/>
          </a:xfrm>
          <a:prstGeom prst="rect">
            <a:avLst/>
          </a:prstGeom>
          <a:solidFill>
            <a:srgbClr val="1A2744"/>
          </a:solidFill>
          <a:ln w="15240">
            <a:solidFill>
              <a:srgbClr val="06D6A0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26060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31520" y="309067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($)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32841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26280" y="2560320"/>
            <a:ext cx="3520440" cy="987552"/>
          </a:xfrm>
          <a:prstGeom prst="rect">
            <a:avLst/>
          </a:prstGeom>
          <a:solidFill>
            <a:srgbClr val="1A2744"/>
          </a:solidFill>
          <a:ln w="15240">
            <a:solidFill>
              <a:srgbClr val="8FA3BF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26280" y="26060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526280" y="309067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Abs. Err ($)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26280" y="332841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robust to outliers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31520" y="3611880"/>
            <a:ext cx="5029200" cy="2926080"/>
          </a:xfrm>
          <a:prstGeom prst="rect">
            <a:avLst/>
          </a:prstGeom>
          <a:solidFill>
            <a:srgbClr val="111827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367588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Coefficients (Standardised)</a:t>
            </a:r>
            <a:endParaRPr lang="en-US" sz="12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777240" y="4041648"/>
          <a:ext cx="489204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Shape 25"/>
          <p:cNvSpPr/>
          <p:nvPr/>
        </p:nvSpPr>
        <p:spPr>
          <a:xfrm>
            <a:off x="5989320" y="3611880"/>
            <a:ext cx="5943600" cy="2926080"/>
          </a:xfrm>
          <a:prstGeom prst="rect">
            <a:avLst/>
          </a:prstGeom>
          <a:solidFill>
            <a:srgbClr val="111827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126480" y="3675888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Interpretation &amp; Insights</a:t>
            </a:r>
            <a:endParaRPr lang="en-US" sz="12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4114800"/>
            <a:ext cx="274320" cy="27432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510528" y="4096512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Unit is by far the strongest predictor of total spend — coefficient 485.2</a:t>
            </a:r>
            <a:endParaRPr lang="en-US" sz="95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4553712"/>
            <a:ext cx="274320" cy="27432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510528" y="4535424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contributes significantly (312.7), enabling basket-size optimization</a:t>
            </a:r>
            <a:endParaRPr lang="en-US" sz="95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4992624"/>
            <a:ext cx="274320" cy="27432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510528" y="4974336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&amp; Clothing categories drive positive spend uplift above baseline</a:t>
            </a:r>
            <a:endParaRPr lang="en-US" sz="95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5431536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510528" y="5413248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0.818 confirms the model explains 81.8% of spend variance — exceeds target</a:t>
            </a:r>
            <a:endParaRPr lang="en-US" sz="950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5870448"/>
            <a:ext cx="274320" cy="2743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510528" y="585216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Error = 0.78 confirms near-zero systematic bias — well-calibrated model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STREAMLIT DASHBOARD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Analytics Platform — retail-pro.streamlit.app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30936" y="1362456"/>
            <a:ext cx="3721608" cy="4178808"/>
          </a:xfrm>
          <a:prstGeom prst="rect">
            <a:avLst/>
          </a:prstGeom>
          <a:solidFill>
            <a:srgbClr val="00B4D8">
              <a:alpha val="15000"/>
            </a:srgbClr>
          </a:solidFill>
          <a:ln w="317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3611880" cy="347472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95528" y="1508760"/>
            <a:ext cx="128016" cy="128016"/>
          </a:xfrm>
          <a:prstGeom prst="ellipse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96696" y="1508760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97864" y="1508760"/>
            <a:ext cx="128016" cy="12801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17320" y="149047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retail-pro.streamlit.app</a:t>
            </a:r>
            <a:endParaRPr lang="en-US" sz="750" dirty="0"/>
          </a:p>
        </p:txBody>
      </p:sp>
      <p:pic>
        <p:nvPicPr>
          <p:cNvPr id="11" name="Image 0" descr="/mnt/user-data/uploads/1778530442949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764792"/>
            <a:ext cx="3611880" cy="372160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85800" y="5559552"/>
            <a:ext cx="3611880" cy="804672"/>
          </a:xfrm>
          <a:prstGeom prst="rect">
            <a:avLst/>
          </a:prstGeom>
          <a:solidFill>
            <a:srgbClr val="111827"/>
          </a:solidFill>
          <a:ln w="15240">
            <a:solidFill>
              <a:srgbClr val="00B4D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95528" y="55778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Customer Segmentation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95528" y="592531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clusters · Silhouette 0.318 · 42K customers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471416" y="1362456"/>
            <a:ext cx="3721608" cy="4178808"/>
          </a:xfrm>
          <a:prstGeom prst="rect">
            <a:avLst/>
          </a:prstGeom>
          <a:solidFill>
            <a:srgbClr val="06D6A0">
              <a:alpha val="15000"/>
            </a:srgbClr>
          </a:solidFill>
          <a:ln w="317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26280" y="1417320"/>
            <a:ext cx="3611880" cy="347472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636008" y="1508760"/>
            <a:ext cx="128016" cy="128016"/>
          </a:xfrm>
          <a:prstGeom prst="ellipse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837176" y="1508760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038344" y="1508760"/>
            <a:ext cx="128016" cy="12801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257800" y="149047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retail-pro.streamlit.app</a:t>
            </a:r>
            <a:endParaRPr lang="en-US" sz="750" dirty="0"/>
          </a:p>
        </p:txBody>
      </p:sp>
      <p:pic>
        <p:nvPicPr>
          <p:cNvPr id="21" name="Image 1" descr="/mnt/user-data/uploads/1778530454792_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26280" y="1764792"/>
            <a:ext cx="3611880" cy="3721608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4526280" y="5559552"/>
            <a:ext cx="3611880" cy="804672"/>
          </a:xfrm>
          <a:prstGeom prst="rect">
            <a:avLst/>
          </a:prstGeom>
          <a:solidFill>
            <a:srgbClr val="111827"/>
          </a:solidFill>
          <a:ln w="15240">
            <a:solidFill>
              <a:srgbClr val="06D6A0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636008" y="55778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 Metrics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636008" y="592531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87.7% · ROC AUC 94.9% · F1 84.3%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8311896" y="1362456"/>
            <a:ext cx="3721608" cy="4178808"/>
          </a:xfrm>
          <a:prstGeom prst="rect">
            <a:avLst/>
          </a:prstGeom>
          <a:solidFill>
            <a:srgbClr val="FFD166">
              <a:alpha val="15000"/>
            </a:srgbClr>
          </a:solidFill>
          <a:ln w="317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8366760" y="1417320"/>
            <a:ext cx="3611880" cy="347472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8476488" y="1508760"/>
            <a:ext cx="128016" cy="128016"/>
          </a:xfrm>
          <a:prstGeom prst="ellipse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8677656" y="1508760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8878824" y="1508760"/>
            <a:ext cx="128016" cy="12801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9098280" y="149047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retail-pro.streamlit.app</a:t>
            </a:r>
            <a:endParaRPr lang="en-US" sz="750" dirty="0"/>
          </a:p>
        </p:txBody>
      </p:sp>
      <p:pic>
        <p:nvPicPr>
          <p:cNvPr id="31" name="Image 2" descr="/mnt/user-data/uploads/1778530466288_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66760" y="1764792"/>
            <a:ext cx="3611880" cy="3721608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8366760" y="5559552"/>
            <a:ext cx="3611880" cy="804672"/>
          </a:xfrm>
          <a:prstGeom prst="rect">
            <a:avLst/>
          </a:prstGeom>
          <a:solidFill>
            <a:srgbClr val="111827"/>
          </a:solidFill>
          <a:ln w="15240">
            <a:solidFill>
              <a:srgbClr val="FFD166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8476488" y="55778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Model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8476488" y="592531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0.818 · RMSE $813 · MAE $482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METHODOLOGY COMPLIANCE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Cycle — Business to Deployment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423160" y="1947672"/>
            <a:ext cx="228600" cy="36576"/>
          </a:xfrm>
          <a:prstGeom prst="rect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1691640" cy="1170432"/>
          </a:xfrm>
          <a:prstGeom prst="rect">
            <a:avLst/>
          </a:prstGeom>
          <a:solidFill>
            <a:srgbClr val="1A2744"/>
          </a:solidFill>
          <a:ln w="15240">
            <a:solidFill>
              <a:srgbClr val="E84855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1691640" cy="45720"/>
          </a:xfrm>
          <a:prstGeom prst="rect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152704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011680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43400" y="1947672"/>
            <a:ext cx="228600" cy="36576"/>
          </a:xfrm>
          <a:prstGeom prst="rect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651760" y="1417320"/>
            <a:ext cx="1691640" cy="1170432"/>
          </a:xfrm>
          <a:prstGeom prst="rect">
            <a:avLst/>
          </a:prstGeom>
          <a:solidFill>
            <a:srgbClr val="1A2744"/>
          </a:solidFill>
          <a:ln w="15240">
            <a:solidFill>
              <a:srgbClr val="00B4D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651760" y="1417320"/>
            <a:ext cx="169164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52704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51760" y="2011680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63640" y="1947672"/>
            <a:ext cx="228600" cy="36576"/>
          </a:xfrm>
          <a:prstGeom prst="rect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572000" y="1417320"/>
            <a:ext cx="1691640" cy="1170432"/>
          </a:xfrm>
          <a:prstGeom prst="rect">
            <a:avLst/>
          </a:prstGeom>
          <a:solidFill>
            <a:srgbClr val="1A2744"/>
          </a:solidFill>
          <a:ln w="15240">
            <a:solidFill>
              <a:srgbClr val="06D6A0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572000" y="1417320"/>
            <a:ext cx="1691640" cy="4572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4648" y="152704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72000" y="2011680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8183880" y="1947672"/>
            <a:ext cx="228600" cy="36576"/>
          </a:xfrm>
          <a:prstGeom prst="rect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492240" y="1417320"/>
            <a:ext cx="1691640" cy="1170432"/>
          </a:xfrm>
          <a:prstGeom prst="rect">
            <a:avLst/>
          </a:prstGeom>
          <a:solidFill>
            <a:srgbClr val="1A2744"/>
          </a:solidFill>
          <a:ln w="15240">
            <a:solidFill>
              <a:srgbClr val="FFD166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6492240" y="1417320"/>
            <a:ext cx="1691640" cy="4572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888" y="1527048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492240" y="2011680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10104120" y="1947672"/>
            <a:ext cx="228600" cy="36576"/>
          </a:xfrm>
          <a:prstGeom prst="rect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8412480" y="1417320"/>
            <a:ext cx="1691640" cy="1170432"/>
          </a:xfrm>
          <a:prstGeom prst="rect">
            <a:avLst/>
          </a:prstGeom>
          <a:solidFill>
            <a:srgbClr val="1A2744"/>
          </a:solidFill>
          <a:ln w="15240">
            <a:solidFill>
              <a:srgbClr val="A855F7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8412480" y="1417320"/>
            <a:ext cx="1691640" cy="4572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5128" y="1527048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412480" y="2011680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10332720" y="1417320"/>
            <a:ext cx="1691640" cy="1170432"/>
          </a:xfrm>
          <a:prstGeom prst="rect">
            <a:avLst/>
          </a:prstGeom>
          <a:solidFill>
            <a:srgbClr val="1A2744"/>
          </a:solidFill>
          <a:ln w="15240">
            <a:solidFill>
              <a:srgbClr val="E84855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10332720" y="1417320"/>
            <a:ext cx="1691640" cy="45720"/>
          </a:xfrm>
          <a:prstGeom prst="rect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45368" y="1527048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0332720" y="2011680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731520" y="2788920"/>
            <a:ext cx="1691640" cy="3749040"/>
          </a:xfrm>
          <a:prstGeom prst="rect">
            <a:avLst/>
          </a:prstGeom>
          <a:solidFill>
            <a:srgbClr val="1A2744"/>
          </a:solidFill>
          <a:ln w="15240">
            <a:solidFill>
              <a:srgbClr val="E84855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27"/>
          <p:cNvSpPr/>
          <p:nvPr/>
        </p:nvSpPr>
        <p:spPr>
          <a:xfrm>
            <a:off x="804672" y="2898648"/>
            <a:ext cx="15544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4 objectives · Success criteria set · Retail domain contextualised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2651760" y="2788920"/>
            <a:ext cx="1691640" cy="3749040"/>
          </a:xfrm>
          <a:prstGeom prst="rect">
            <a:avLst/>
          </a:prstGeom>
          <a:solidFill>
            <a:srgbClr val="1A2744"/>
          </a:solidFill>
          <a:ln w="15240">
            <a:solidFill>
              <a:srgbClr val="00B4D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29"/>
          <p:cNvSpPr/>
          <p:nvPr/>
        </p:nvSpPr>
        <p:spPr>
          <a:xfrm>
            <a:off x="2724912" y="2898648"/>
            <a:ext cx="15544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rows · 9 columns · EDA: distributions, correlations, outlier detection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4572000" y="2788920"/>
            <a:ext cx="1691640" cy="3749040"/>
          </a:xfrm>
          <a:prstGeom prst="rect">
            <a:avLst/>
          </a:prstGeom>
          <a:solidFill>
            <a:srgbClr val="1A2744"/>
          </a:solidFill>
          <a:ln w="15240">
            <a:solidFill>
              <a:srgbClr val="06D6A0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1"/>
          <p:cNvSpPr/>
          <p:nvPr/>
        </p:nvSpPr>
        <p:spPr>
          <a:xfrm>
            <a:off x="4645152" y="2898648"/>
            <a:ext cx="15544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6-step pipeline · Feature engineering · 5 new columns · Zero leakage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6492240" y="2788920"/>
            <a:ext cx="1691640" cy="3749040"/>
          </a:xfrm>
          <a:prstGeom prst="rect">
            <a:avLst/>
          </a:prstGeom>
          <a:solidFill>
            <a:srgbClr val="1A2744"/>
          </a:solidFill>
          <a:ln w="15240">
            <a:solidFill>
              <a:srgbClr val="FFD166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3"/>
          <p:cNvSpPr/>
          <p:nvPr/>
        </p:nvSpPr>
        <p:spPr>
          <a:xfrm>
            <a:off x="6565392" y="2898648"/>
            <a:ext cx="15544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algorithms · Hyperparameter tuning · Threshold optimisation · CV aware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8412480" y="2788920"/>
            <a:ext cx="1691640" cy="3749040"/>
          </a:xfrm>
          <a:prstGeom prst="rect">
            <a:avLst/>
          </a:prstGeom>
          <a:solidFill>
            <a:srgbClr val="1A2744"/>
          </a:solidFill>
          <a:ln w="15240">
            <a:solidFill>
              <a:srgbClr val="A855F7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35"/>
          <p:cNvSpPr/>
          <p:nvPr/>
        </p:nvSpPr>
        <p:spPr>
          <a:xfrm>
            <a:off x="8485632" y="2898648"/>
            <a:ext cx="15544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targets met · RF AUC 94.9% · LR R² 0.818 · KM Silhouette 0.318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10332720" y="2788920"/>
            <a:ext cx="1691640" cy="3749040"/>
          </a:xfrm>
          <a:prstGeom prst="rect">
            <a:avLst/>
          </a:prstGeom>
          <a:solidFill>
            <a:srgbClr val="1A2744"/>
          </a:solidFill>
          <a:ln w="15240">
            <a:solidFill>
              <a:srgbClr val="E84855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37"/>
          <p:cNvSpPr/>
          <p:nvPr/>
        </p:nvSpPr>
        <p:spPr>
          <a:xfrm>
            <a:off x="10405872" y="2898648"/>
            <a:ext cx="15544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cloud app · Global filters · 7 tabs · Business insights panel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&amp; RECOMMENDATIONS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Actionable Findings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1064240" cy="896112"/>
          </a:xfrm>
          <a:prstGeom prst="rect">
            <a:avLst/>
          </a:prstGeom>
          <a:solidFill>
            <a:srgbClr val="1A2744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64008" cy="8961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618488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6112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655064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057400" y="14630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= Highest Revenue Segment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057400" y="18928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429000" y="18745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30%+ of marketing budget to Electronics upsells targeting Cluster 1 (Premium Buyers). Introduce loyalty tiers and extended warranty programs.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31520" y="2423160"/>
            <a:ext cx="11064240" cy="896112"/>
          </a:xfrm>
          <a:prstGeom prst="rect">
            <a:avLst/>
          </a:prstGeom>
          <a:solidFill>
            <a:srgbClr val="1A2744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31520" y="2423160"/>
            <a:ext cx="64008" cy="89611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96112" y="2624328"/>
            <a:ext cx="502920" cy="502920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96112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2660904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057400" y="24688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High-Spenders Identifiable with 94% Recall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057400" y="28986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429000" y="288036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RF classifier in CRM pipelines to flag prospective high-spenders before purchase, enabling personalised outreach and premium offers.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731520" y="3429000"/>
            <a:ext cx="11064240" cy="896112"/>
          </a:xfrm>
          <a:prstGeom prst="rect">
            <a:avLst/>
          </a:prstGeom>
          <a:solidFill>
            <a:srgbClr val="1A2744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731520" y="3429000"/>
            <a:ext cx="64008" cy="89611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896112" y="3630168"/>
            <a:ext cx="502920" cy="502920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896112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0" y="3666744"/>
            <a:ext cx="384048" cy="38404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057400" y="34747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Unit is the #1 Spend Driver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2057400" y="390448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3429000" y="388620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strategy: use LR coefficients to simulate revenue impact of price changes across categories before rollout.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731520" y="4434840"/>
            <a:ext cx="11064240" cy="896112"/>
          </a:xfrm>
          <a:prstGeom prst="rect">
            <a:avLst/>
          </a:prstGeom>
          <a:solidFill>
            <a:srgbClr val="1A2744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731520" y="4434840"/>
            <a:ext cx="64008" cy="896112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896112" y="4636008"/>
            <a:ext cx="502920" cy="50292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896112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4480" y="4672584"/>
            <a:ext cx="384048" cy="38404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2057400" y="44805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Distinct Customer Personas Identified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2057400" y="49103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3429000" y="48920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3 distinct email flows: value deals (Cluster 0), premium early access (Cluster 1), cross-category bundles (Cluster 2).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731520" y="5440680"/>
            <a:ext cx="11064240" cy="896112"/>
          </a:xfrm>
          <a:prstGeom prst="rect">
            <a:avLst/>
          </a:prstGeom>
          <a:solidFill>
            <a:srgbClr val="1A2744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731520" y="5440680"/>
            <a:ext cx="64008" cy="896112"/>
          </a:xfrm>
          <a:prstGeom prst="rect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896112" y="5641848"/>
            <a:ext cx="502920" cy="502920"/>
          </a:xfrm>
          <a:prstGeom prst="ellipse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896112" y="5623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4480" y="5678424"/>
            <a:ext cx="384048" cy="38404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2057400" y="54864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Patterns in Monthly Revenue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2057400" y="591616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3429000" y="589788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shows peak spending. Pre-load inventory 8 weeks before November. Offer off-peak discounts (Feb–Apr) to sustain baseline revenue.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· Repository · Deployment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2468880" cy="2011680"/>
          </a:xfrm>
          <a:prstGeom prst="rect">
            <a:avLst/>
          </a:prstGeom>
          <a:solidFill>
            <a:srgbClr val="1A2744"/>
          </a:solidFill>
          <a:ln w="15240">
            <a:solidFill>
              <a:srgbClr val="00B4D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246888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3042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68833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1417320"/>
            <a:ext cx="2468880" cy="2011680"/>
          </a:xfrm>
          <a:prstGeom prst="rect">
            <a:avLst/>
          </a:prstGeom>
          <a:solidFill>
            <a:srgbClr val="1A2744"/>
          </a:solidFill>
          <a:ln w="15240">
            <a:solidFill>
              <a:srgbClr val="FFD166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74720" y="1417320"/>
            <a:ext cx="2468880" cy="5486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0" y="14630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19202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11880" y="23042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11880" y="268833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altair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417320"/>
            <a:ext cx="2468880" cy="2011680"/>
          </a:xfrm>
          <a:prstGeom prst="rect">
            <a:avLst/>
          </a:prstGeom>
          <a:solidFill>
            <a:srgbClr val="1A2744"/>
          </a:solidFill>
          <a:ln w="15240">
            <a:solidFill>
              <a:srgbClr val="E84855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7920" y="1417320"/>
            <a:ext cx="2468880" cy="54864"/>
          </a:xfrm>
          <a:prstGeom prst="rect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14630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19202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23042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Cloud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61120" y="1417320"/>
            <a:ext cx="2468880" cy="2011680"/>
          </a:xfrm>
          <a:prstGeom prst="rect">
            <a:avLst/>
          </a:prstGeom>
          <a:solidFill>
            <a:srgbClr val="1A2744"/>
          </a:solidFill>
          <a:ln w="15240">
            <a:solidFill>
              <a:srgbClr val="06D6A0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961120" y="1417320"/>
            <a:ext cx="2468880" cy="5486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961120" y="14630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98280" y="19202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098280" y="23042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098280" y="268833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3611880"/>
            <a:ext cx="5349240" cy="2834640"/>
          </a:xfrm>
          <a:prstGeom prst="rect">
            <a:avLst/>
          </a:prstGeom>
          <a:solidFill>
            <a:srgbClr val="111827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49040"/>
            <a:ext cx="502920" cy="50292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536192" y="374904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914400" y="434340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github.com/MUA122/Retail-Sales-Data-Mining-Project</a:t>
            </a:r>
            <a:endParaRPr lang="en-US" sz="100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00600"/>
            <a:ext cx="228600" cy="22860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1234440" y="478231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 with meaningful commit history</a:t>
            </a:r>
            <a:endParaRPr lang="en-US" sz="100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184648"/>
            <a:ext cx="228600" cy="22860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1234440" y="5166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for reproducible environment</a:t>
            </a:r>
            <a:endParaRPr lang="en-US" sz="100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568696"/>
            <a:ext cx="228600" cy="22860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234440" y="555040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folders: preprocessing, models, app</a:t>
            </a:r>
            <a:endParaRPr lang="en-US" sz="1000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952744"/>
            <a:ext cx="228600" cy="22860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234440" y="593445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with setup + run instructions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355080" y="3611880"/>
            <a:ext cx="5440680" cy="2834640"/>
          </a:xfrm>
          <a:prstGeom prst="rect">
            <a:avLst/>
          </a:prstGeom>
          <a:solidFill>
            <a:srgbClr val="111827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3749040"/>
            <a:ext cx="457200" cy="45720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114032" y="37490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</a:t>
            </a:r>
            <a:endParaRPr lang="en-US" sz="1500" dirty="0"/>
          </a:p>
        </p:txBody>
      </p:sp>
      <p:sp>
        <p:nvSpPr>
          <p:cNvPr id="43" name="Text 35"/>
          <p:cNvSpPr/>
          <p:nvPr/>
        </p:nvSpPr>
        <p:spPr>
          <a:xfrm>
            <a:off x="6537960" y="4343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retail-pro.streamlit.app</a:t>
            </a:r>
            <a:endParaRPr lang="en-US" sz="100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800600"/>
            <a:ext cx="228600" cy="22860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858000" y="47823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Streamlit Community Cloud (free)</a:t>
            </a:r>
            <a:endParaRPr lang="en-US" sz="1000" dirty="0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5184648"/>
            <a:ext cx="228600" cy="22860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6858000" y="5166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navigation tabs — one per CRISP-DM phase</a:t>
            </a:r>
            <a:endParaRPr lang="en-US" sz="1000" dirty="0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5568696"/>
            <a:ext cx="228600" cy="228600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6858000" y="55504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filters: Category, Gender, Age Range</a:t>
            </a:r>
            <a:endParaRPr lang="en-US" sz="1000" dirty="0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5952744"/>
            <a:ext cx="228600" cy="228600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6858000" y="593445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panel with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Improve with More Time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5303520" cy="5029200"/>
          </a:xfrm>
          <a:prstGeom prst="rect">
            <a:avLst/>
          </a:prstGeom>
          <a:solidFill>
            <a:srgbClr val="111827"/>
          </a:solidFill>
          <a:ln w="15240">
            <a:solidFill>
              <a:srgbClr val="E84855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5303520" cy="54864"/>
          </a:xfrm>
          <a:prstGeom prst="rect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96112" y="2084832"/>
            <a:ext cx="201168" cy="201168"/>
          </a:xfrm>
          <a:prstGeom prst="ellipse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88720" y="20299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22860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may not reflect real-world purchasing complexity or seasonality patterns accurately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96112" y="2816352"/>
            <a:ext cx="201168" cy="201168"/>
          </a:xfrm>
          <a:prstGeom prst="ellipse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88720" y="276148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Classifier: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30175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 accuracy for 7-class prediction — demographics alone insufficient discriminators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96112" y="3547872"/>
            <a:ext cx="201168" cy="201168"/>
          </a:xfrm>
          <a:prstGeom prst="ellipse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88720" y="349300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Market Basket Analysis: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37490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 mining (Apriori) was scoped out due to time constraints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6112" y="4279392"/>
            <a:ext cx="201168" cy="201168"/>
          </a:xfrm>
          <a:prstGeom prst="ellipse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88720" y="422452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Clustering: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44805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re-runs on each load; real system would cache and schedule periodic retraining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96112" y="5010912"/>
            <a:ext cx="201168" cy="201168"/>
          </a:xfrm>
          <a:prstGeom prst="ellipse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88720" y="495604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 Journey: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52120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Transaction-level view misses repeat purchase sequences and churn signals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09360" y="1417320"/>
            <a:ext cx="5440680" cy="5029200"/>
          </a:xfrm>
          <a:prstGeom prst="rect">
            <a:avLst/>
          </a:prstGeom>
          <a:solidFill>
            <a:srgbClr val="111827"/>
          </a:solidFill>
          <a:ln w="15240">
            <a:solidFill>
              <a:srgbClr val="A855F7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309360" y="1417320"/>
            <a:ext cx="5440680" cy="54864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46520" y="150876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73952" y="2084832"/>
            <a:ext cx="201168" cy="201168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66560" y="20299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Basket Analysis: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22860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/ FP-Growth for product co-purchase recommendations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73952" y="2816352"/>
            <a:ext cx="201168" cy="201168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766560" y="276148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Scoring: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0" y="3017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Recency, Frequency, Monetary model for customer lifetime value tiers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73952" y="3547872"/>
            <a:ext cx="201168" cy="201168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766560" y="34930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66560" y="37490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for improved category prediction accuracy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73952" y="4279392"/>
            <a:ext cx="201168" cy="201168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766560" y="422452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Forecasting: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66560" y="44805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or Prophet for monthly revenue and demand forecasting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73952" y="5010912"/>
            <a:ext cx="201168" cy="201168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766560" y="49560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Integration: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66560" y="52120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live POS data stream via API for dashboard auto-refresh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1371600"/>
            <a:ext cx="4572000" cy="457200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0" y="2286000"/>
            <a:ext cx="3200400" cy="3200400"/>
          </a:xfrm>
          <a:prstGeom prst="ellipse">
            <a:avLst/>
          </a:prstGeom>
          <a:solidFill>
            <a:srgbClr val="0A152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200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Course · Phase 2 · 2024/2025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54864" cy="4389120"/>
          </a:xfrm>
          <a:prstGeom prst="rect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157276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0574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233172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customer segments · Silhouette 0.318 · 42K customers profiled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05840" y="27432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(High-Spender)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05840" y="301752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87.7% · ROC AUC 94.9% · F1 84.3%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05840" y="34290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5840" y="370332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0.818 · RMSE $813 · Price per Unit = #1 predictor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05840" y="41148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05840" y="438912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retail-pro.streamlit.app · 7 tabs · Global filters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05840" y="48006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05840" y="507492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6-phase compliance from Business Understanding → Deployment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5760720"/>
            <a:ext cx="7772400" cy="868680"/>
          </a:xfrm>
          <a:prstGeom prst="rect">
            <a:avLst/>
          </a:prstGeom>
          <a:solidFill>
            <a:srgbClr val="0D1B3E"/>
          </a:solidFill>
          <a:ln w="15240">
            <a:solidFill>
              <a:srgbClr val="1E3A6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5833872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Mahmoud Usama (230103270)  ·  Youssef Mahmoud (230104603)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617220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github.com/MUA122/Retail-Sales-Data-Mining-Project  ·  retail-pro.streamlit.app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1508</Words>
  <Application>Microsoft Office PowerPoint</Application>
  <PresentationFormat>Widescreen</PresentationFormat>
  <Paragraphs>348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Mahmoud Usama Abdelhameed Abdelrahman</cp:lastModifiedBy>
  <cp:revision>2</cp:revision>
  <dcterms:created xsi:type="dcterms:W3CDTF">2026-05-11T20:20:48Z</dcterms:created>
  <dcterms:modified xsi:type="dcterms:W3CDTF">2026-05-11T20:28:04Z</dcterms:modified>
</cp:coreProperties>
</file>